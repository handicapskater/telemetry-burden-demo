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2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45720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A 93-MINUTE BUS RIDE: WHY BUMPS CAN MATTER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22376"/>
            <a:ext cx="10972800" cy="292608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defRPr sz="1500" b="0">
                <a:solidFill>
                  <a:srgbClr val="CDE5EB"/>
                </a:solidFill>
              </a:defRPr>
            </a:pPr>
            <a:r>
              <a:t>May 23, 2026  |  ParaTransit  |  Pelvic injury and mobility access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" y="1417320"/>
            <a:ext cx="2770632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572768"/>
            <a:ext cx="2514600" cy="420624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defRPr sz="2600" b="1">
                <a:solidFill>
                  <a:srgbClr val="007C8A"/>
                </a:solidFill>
              </a:defRPr>
            </a:pPr>
            <a:r>
              <a:t>92 min 53 sec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039112"/>
            <a:ext cx="2514600" cy="30175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defRPr sz="1500" b="1">
                <a:solidFill>
                  <a:srgbClr val="122339"/>
                </a:solidFill>
              </a:defRPr>
            </a:pPr>
            <a:r>
              <a:t>Time exposed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414016"/>
            <a:ext cx="2487168" cy="402336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defRPr sz="1200" b="0">
                <a:solidFill>
                  <a:srgbClr val="505E6B"/>
                </a:solidFill>
              </a:defRPr>
            </a:pPr>
            <a:r>
              <a:t>Nearly 1½ hours in the vehicle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417320"/>
            <a:ext cx="2770632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8728" y="1572768"/>
            <a:ext cx="2514600" cy="420624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defRPr sz="2600" b="1">
                <a:solidFill>
                  <a:srgbClr val="007C8A"/>
                </a:solidFill>
              </a:defRPr>
            </a:pPr>
            <a:r>
              <a:t>0.217 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2039112"/>
            <a:ext cx="2514600" cy="30175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defRPr sz="1500" b="1">
                <a:solidFill>
                  <a:srgbClr val="122339"/>
                </a:solidFill>
              </a:defRPr>
            </a:pPr>
            <a:r>
              <a:t>Peak shaking (RMS)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2414016"/>
            <a:ext cx="2487168" cy="402336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defRPr sz="1200" b="0">
                <a:solidFill>
                  <a:srgbClr val="505E6B"/>
                </a:solidFill>
              </a:defRPr>
            </a:pPr>
            <a:r>
              <a:t>How strongly the ride shook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1417320"/>
            <a:ext cx="2770632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1572768"/>
            <a:ext cx="2514600" cy="420624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defRPr sz="2600" b="1">
                <a:solidFill>
                  <a:srgbClr val="007C8A"/>
                </a:solidFill>
              </a:defRPr>
            </a:pPr>
            <a:r>
              <a:t>12.94 g/s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8" y="2039112"/>
            <a:ext cx="2514600" cy="30175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defRPr sz="1500" b="1">
                <a:solidFill>
                  <a:srgbClr val="122339"/>
                </a:solidFill>
              </a:defRPr>
            </a:pPr>
            <a:r>
              <a:t>Peak jerk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8" y="2414016"/>
            <a:ext cx="2487168" cy="402336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defRPr sz="1200" b="0">
                <a:solidFill>
                  <a:srgbClr val="505E6B"/>
                </a:solidFill>
              </a:defRPr>
            </a:pPr>
            <a:r>
              <a:t>How suddenly the shaking changed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53728" y="1417320"/>
            <a:ext cx="2770632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90888" y="1572768"/>
            <a:ext cx="2514600" cy="420624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defRPr sz="2600" b="1">
                <a:solidFill>
                  <a:srgbClr val="007C8A"/>
                </a:solidFill>
              </a:defRPr>
            </a:pPr>
            <a:r>
              <a:t>~22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0888" y="2039112"/>
            <a:ext cx="2514600" cy="30175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defRPr sz="1500" b="1">
                <a:solidFill>
                  <a:srgbClr val="122339"/>
                </a:solidFill>
              </a:defRPr>
            </a:pPr>
            <a:r>
              <a:t>Sustained high exposure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90888" y="2414016"/>
            <a:ext cx="2487168" cy="402336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defRPr sz="1200" b="0">
                <a:solidFill>
                  <a:srgbClr val="505E6B"/>
                </a:solidFill>
              </a:defRPr>
            </a:pPr>
            <a:r>
              <a:t>Reported time above the P90 threshold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3218688"/>
            <a:ext cx="10972800" cy="41148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defRPr sz="2000" b="1">
                <a:solidFill>
                  <a:srgbClr val="122339"/>
                </a:solidFill>
              </a:defRPr>
            </a:pPr>
            <a:r>
              <a:t>Think of a bruise: one bump may hurt. Repeated bumps can keep irritating the same area.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" y="3822191"/>
            <a:ext cx="2679192" cy="932688"/>
          </a:xfrm>
          <a:prstGeom prst="roundRect">
            <a:avLst/>
          </a:prstGeom>
          <a:solidFill>
            <a:srgbClr val="E0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950208"/>
            <a:ext cx="2423160" cy="246888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defRPr sz="1600" b="1">
                <a:solidFill>
                  <a:srgbClr val="007C8A"/>
                </a:solidFill>
              </a:defRPr>
            </a:pPr>
            <a:r>
              <a:t>ROAD BUMPS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279392"/>
            <a:ext cx="2423160" cy="34747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defRPr sz="1200" b="0">
                <a:solidFill>
                  <a:srgbClr val="122339"/>
                </a:solidFill>
              </a:defRPr>
            </a:pPr>
            <a:r>
              <a:t>Uneven road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27832" y="4059936"/>
            <a:ext cx="256032" cy="27432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defRPr sz="2400" b="1">
                <a:solidFill>
                  <a:srgbClr val="D16425"/>
                </a:solidFill>
              </a:defRPr>
            </a:pPr>
            <a: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74720" y="3822191"/>
            <a:ext cx="2679192" cy="932688"/>
          </a:xfrm>
          <a:prstGeom prst="roundRect">
            <a:avLst/>
          </a:prstGeom>
          <a:solidFill>
            <a:srgbClr val="E0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84448" y="3950208"/>
            <a:ext cx="2423160" cy="246888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defRPr sz="1600" b="1">
                <a:solidFill>
                  <a:srgbClr val="007C8A"/>
                </a:solidFill>
              </a:defRPr>
            </a:pPr>
            <a:r>
              <a:t>SEAT SHAKES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84448" y="4279392"/>
            <a:ext cx="2423160" cy="34747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defRPr sz="1200" b="0">
                <a:solidFill>
                  <a:srgbClr val="122339"/>
                </a:solidFill>
              </a:defRPr>
            </a:pPr>
            <a:r>
              <a:t>Vibration + sudden jolts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059936"/>
            <a:ext cx="256032" cy="27432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defRPr sz="2400" b="1">
                <a:solidFill>
                  <a:srgbClr val="D16425"/>
                </a:solidFill>
              </a:defRPr>
            </a:pPr>
            <a: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19088" y="3822191"/>
            <a:ext cx="2679192" cy="932688"/>
          </a:xfrm>
          <a:prstGeom prst="roundRect">
            <a:avLst/>
          </a:prstGeom>
          <a:solidFill>
            <a:srgbClr val="E0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28816" y="3950208"/>
            <a:ext cx="2423160" cy="246888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defRPr sz="1600" b="1">
                <a:solidFill>
                  <a:srgbClr val="007C8A"/>
                </a:solidFill>
              </a:defRPr>
            </a:pPr>
            <a:r>
              <a:t>PELVIS FEELS 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8816" y="4279392"/>
            <a:ext cx="2423160" cy="34747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defRPr sz="1200" b="0">
                <a:solidFill>
                  <a:srgbClr val="122339"/>
                </a:solidFill>
              </a:defRPr>
            </a:pPr>
            <a:r>
              <a:t>Forces travel through the seat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16568" y="4059936"/>
            <a:ext cx="256032" cy="27432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defRPr sz="2400" b="1">
                <a:solidFill>
                  <a:srgbClr val="D16425"/>
                </a:solidFill>
              </a:defRPr>
            </a:pPr>
            <a:r>
              <a:t>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63456" y="3822191"/>
            <a:ext cx="2679192" cy="932688"/>
          </a:xfrm>
          <a:prstGeom prst="roundRect">
            <a:avLst/>
          </a:prstGeom>
          <a:solidFill>
            <a:srgbClr val="E0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73184" y="3950208"/>
            <a:ext cx="2423160" cy="246888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defRPr sz="1600" b="1">
                <a:solidFill>
                  <a:srgbClr val="007C8A"/>
                </a:solidFill>
              </a:defRPr>
            </a:pPr>
            <a:r>
              <a:t>BURDEN BUILDS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73184" y="4279392"/>
            <a:ext cx="2423160" cy="347472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defRPr sz="1200" b="0">
                <a:solidFill>
                  <a:srgbClr val="122339"/>
                </a:solidFill>
              </a:defRPr>
            </a:pPr>
            <a:r>
              <a:t>Exposure continues over time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30352" y="5047488"/>
            <a:ext cx="11109960" cy="685800"/>
          </a:xfrm>
          <a:prstGeom prst="roundRect">
            <a:avLst/>
          </a:prstGeom>
          <a:solidFill>
            <a:srgbClr val="FF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4088" y="5184648"/>
            <a:ext cx="10789920" cy="429768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r>
              <a:rPr sz="1600" b="1"/>
              <a:t>WHY VEHICLE + TIME MATTER: A bumpier ride sends more jolts through the seat. The longer it lasts, the more often an injured pelvis may be irritated, potentially causing pain.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9496" y="5961888"/>
            <a:ext cx="11155680" cy="594360"/>
          </a:xfrm>
          <a:prstGeom prst="rect">
            <a:avLst/>
          </a:prstGeom>
          <a:noFill/>
        </p:spPr>
        <p:txBody>
          <a:bodyPr wrap="square" lIns="36576" tIns="27432">
            <a:spAutoFit/>
          </a:bodyPr>
          <a:lstStyle/>
          <a:p>
            <a:pPr>
              <a:defRPr sz="1100" b="0">
                <a:solidFill>
                  <a:srgbClr val="505E6B"/>
                </a:solidFill>
              </a:defRPr>
            </a:pPr>
            <a:r>
              <a:t>Evidence note: Ride duration and HR (mean 77, max 106 bpm) are verified in the research inventory. RMS, jerk and ~22 min are previously reported findings; original sensor files were unavailable for recalculation. These measures indicate mechanical exposure, not proof of pain or pelvic force.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